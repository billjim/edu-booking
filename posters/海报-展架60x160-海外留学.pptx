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15000" cy="152430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0" cy="15243048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g-be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640080" y="-274320"/>
            <a:ext cx="6995160" cy="4663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91840"/>
            <a:ext cx="5715000" cy="1371600"/>
          </a:xfrm>
          <a:prstGeom prst="rect">
            <a:avLst/>
          </a:prstGeom>
          <a:gradFill>
            <a:gsLst>
              <a:gs pos="0">
                <a:srgbClr val="0D2847"/>
              </a:gs>
              <a:gs pos="100000">
                <a:srgbClr val="0D2847"/>
              </a:gs>
            </a:gsLst>
            <a:lin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5000" cy="4663440"/>
          </a:xfrm>
          <a:prstGeom prst="rect">
            <a:avLst/>
          </a:prstGeom>
          <a:solidFill>
            <a:srgbClr val="0D2847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" y="4956048"/>
            <a:ext cx="164592000" cy="310896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D2847"/>
                </a:solidFill>
                <a:latin typeface="微软雅黑"/>
                <a:ea typeface="微软雅黑"/>
              </a:rPr>
              <a:t>— 兰亭英才 · 免费开放咨询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539496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海外留学 · 数学/物理 私人辅导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60533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9A961"/>
                </a:solidFill>
                <a:latin typeface="微软雅黑"/>
                <a:ea typeface="微软雅黑"/>
              </a:rPr>
              <a:t>A-Level · AP · IB · AMC 全体系1对1/小班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6693408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691286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8488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何为兰亭英才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168896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兰亭精英培养计划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小班面授·导师制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3512" y="6693408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72968" y="691286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68488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全体系覆盖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7168896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A-Level / AP / IB / AMC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原版教材·双语授课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6693408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97296" y="691286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68488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私人定制方案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7168896"/>
            <a:ext cx="20482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先学情诊断·后定大纲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进度可视·家长周报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8046720"/>
            <a:ext cx="50566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B8943E"/>
                </a:solidFill>
                <a:latin typeface="微软雅黑"/>
                <a:ea typeface="微软雅黑"/>
              </a:rPr>
              <a:t>✦ 选课 · 规划 · 申请，全程陪伴 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5715000" cy="4005072"/>
          </a:xfrm>
          <a:prstGeom prst="rect">
            <a:avLst/>
          </a:prstGeom>
          <a:solidFill>
            <a:srgbClr val="143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9184" y="6967728"/>
            <a:ext cx="109728000" cy="274320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提分案例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73334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近年辅导成果（案例）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" y="7822692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A*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7895844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A-Level 数学 P3 · C → A*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8115300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12 周 · 每周 2 次面授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" y="8481060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8554212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AP 微积分 BC · 4 →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8773668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8 周冲刺 + 真题精讲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" y="9139428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9212580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IB HL 数学 · 5 →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9432036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学期内跟踪 · 每周复盘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" y="9797796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" y="987094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AMC 12 · 31 → 41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10090404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赛前 10 周 · 专题集训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" y="10456163"/>
            <a:ext cx="530352" cy="530352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10529315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雅思衔接数学课 · 82 → 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" y="10748772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8E1EC"/>
                </a:solidFill>
                <a:latin typeface="微软雅黑"/>
                <a:ea typeface="微软雅黑"/>
              </a:rPr>
              <a:t>全英文课堂 适应 3 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" y="10515600"/>
            <a:ext cx="50566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9A961"/>
                </a:solidFill>
                <a:latin typeface="微软雅黑"/>
                <a:ea typeface="微软雅黑"/>
              </a:rPr>
              <a:t>— 下一个名校录取，也许就是你 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57984" y="10991088"/>
            <a:ext cx="137160000" cy="274320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扫码交流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13972032"/>
            <a:ext cx="5715000" cy="987552"/>
          </a:xfrm>
          <a:prstGeom prst="rect">
            <a:avLst/>
          </a:prstGeom>
          <a:gradFill>
            <a:gsLst>
              <a:gs pos="0">
                <a:srgbClr val="0D2847"/>
              </a:gs>
              <a:gs pos="100000">
                <a:srgbClr val="143559"/>
              </a:gs>
            </a:gsLst>
            <a:lin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14081760"/>
            <a:ext cx="50566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现场预约 · 免费</a:t>
            </a: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学情评估与选课规划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" y="14520672"/>
            <a:ext cx="5056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8E1EC"/>
                </a:solidFill>
                <a:latin typeface="微软雅黑"/>
                <a:ea typeface="微软雅黑"/>
              </a:rPr>
              <a:t>并享30分钟免费1对1课程咨询（线上/面谈均可）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37360" y="1479499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线下1对1 / 小班 · 私人辅导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15041880"/>
            <a:ext cx="5715000" cy="201168"/>
          </a:xfrm>
          <a:prstGeom prst="rect">
            <a:avLst/>
          </a:prstGeom>
          <a:solidFill>
            <a:srgbClr val="0D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" y="15060167"/>
            <a:ext cx="50566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8E1EC"/>
                </a:solidFill>
                <a:latin typeface="微软雅黑"/>
                <a:ea typeface="微软雅黑"/>
              </a:rPr>
              <a:t>王老师国际课程私教 · 案例匿名已授权 · 线下面授1对1/小班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11393424"/>
            <a:ext cx="1600200" cy="2395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115214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加群交流</a:t>
            </a:r>
          </a:p>
        </p:txBody>
      </p:sp>
      <p:pic>
        <p:nvPicPr>
          <p:cNvPr id="52" name="Picture 51" descr="qr-group-overse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0"/>
            <a:ext cx="1051560" cy="10515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20040" y="131856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扫码加入交流群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8E1EC"/>
                </a:solidFill>
                <a:latin typeface="微软雅黑"/>
                <a:ea typeface="微软雅黑"/>
              </a:rPr>
              <a:t>学情交流 · 答疑分享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11393424"/>
            <a:ext cx="1600200" cy="2395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115214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联系老师</a:t>
            </a:r>
          </a:p>
        </p:txBody>
      </p:sp>
      <p:pic>
        <p:nvPicPr>
          <p:cNvPr id="53" name="Picture 52" descr="qr-teach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1887200"/>
            <a:ext cx="1051560" cy="10515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057400" y="131856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扫码加王老师微信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8E1EC"/>
                </a:solidFill>
                <a:latin typeface="微软雅黑"/>
                <a:ea typeface="微软雅黑"/>
              </a:rPr>
              <a:t>1对1咨询 · 课程规划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94760" y="11393424"/>
            <a:ext cx="1600200" cy="2395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4760" y="115214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D2847"/>
                </a:solidFill>
                <a:latin typeface="微软雅黑"/>
                <a:ea typeface="微软雅黑"/>
              </a:rPr>
              <a:t>现场预约</a:t>
            </a:r>
          </a:p>
        </p:txBody>
      </p:sp>
      <p:pic>
        <p:nvPicPr>
          <p:cNvPr id="54" name="Picture 53" descr="qr-boo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11887200"/>
            <a:ext cx="1051560" cy="10515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794760" y="1318564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D2847"/>
                </a:solidFill>
                <a:latin typeface="微软雅黑"/>
                <a:ea typeface="微软雅黑"/>
              </a:rPr>
              <a:t>扫码在线预约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8E1EC"/>
                </a:solidFill>
                <a:latin typeface="微软雅黑"/>
                <a:ea typeface="微软雅黑"/>
              </a:rPr>
              <a:t>免费学情评估 · 选课规划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