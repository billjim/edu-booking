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15000" cy="152430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0" cy="15243048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aduation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-2228850"/>
            <a:ext cx="5715000" cy="8572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291840"/>
            <a:ext cx="5715000" cy="1371600"/>
          </a:xfrm>
          <a:prstGeom prst="rect">
            <a:avLst/>
          </a:prstGeom>
          <a:gradFill>
            <a:gsLst>
              <a:gs pos="0">
                <a:srgbClr val="0D2847"/>
              </a:gs>
              <a:gs pos="100000">
                <a:srgbClr val="0D2847"/>
              </a:gs>
            </a:gsLst>
            <a:lin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5000" cy="4663440"/>
          </a:xfrm>
          <a:prstGeom prst="rect">
            <a:avLst/>
          </a:prstGeom>
          <a:solidFill>
            <a:srgbClr val="0D2847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" y="4956048"/>
            <a:ext cx="164592000" cy="310896"/>
          </a:xfrm>
          <a:prstGeom prst="roundRect">
            <a:avLst>
              <a:gd name="adj" fmla="val 50000"/>
            </a:avLst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D2847"/>
                </a:solidFill>
                <a:latin typeface="微软雅黑"/>
                <a:ea typeface="微软雅黑"/>
              </a:rPr>
              <a:t>— 兰亭英才 · 免费开放咨询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539496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国内高考 · 数学/物理 私人辅导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605332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C9A961"/>
                </a:solidFill>
                <a:latin typeface="微软雅黑"/>
                <a:ea typeface="微软雅黑"/>
              </a:rPr>
              <a:t>一轮筑基 · 二轮突破 · 三轮冲刺 全程陪跑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6693408"/>
            <a:ext cx="246888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6912864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84885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D2847"/>
                </a:solidFill>
                <a:latin typeface="微软雅黑"/>
                <a:ea typeface="微软雅黑"/>
              </a:rPr>
              <a:t>何为兰亭英才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168896"/>
            <a:ext cx="20482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8E1EC"/>
                </a:solidFill>
                <a:latin typeface="微软雅黑"/>
                <a:ea typeface="微软雅黑"/>
              </a:rPr>
              <a:t>兰亭精英培养计划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D8E1EC"/>
                </a:solidFill>
                <a:latin typeface="微软雅黑"/>
                <a:ea typeface="微软雅黑"/>
              </a:rPr>
              <a:t>小班面授·导师制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3512" y="6693408"/>
            <a:ext cx="246888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72968" y="6912864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684885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D2847"/>
                </a:solidFill>
                <a:latin typeface="微软雅黑"/>
                <a:ea typeface="微软雅黑"/>
              </a:rPr>
              <a:t>诊断式教学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7168896"/>
            <a:ext cx="20482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8E1EC"/>
                </a:solidFill>
                <a:latin typeface="微软雅黑"/>
                <a:ea typeface="微软雅黑"/>
              </a:rPr>
              <a:t>错因分层·精准补漏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D8E1EC"/>
                </a:solidFill>
                <a:latin typeface="微软雅黑"/>
                <a:ea typeface="微软雅黑"/>
              </a:rPr>
              <a:t>考点图谱·逐个击破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6693408"/>
            <a:ext cx="246888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97296" y="6912864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98464" y="684885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D2847"/>
                </a:solidFill>
                <a:latin typeface="微软雅黑"/>
                <a:ea typeface="微软雅黑"/>
              </a:rPr>
              <a:t>全程陪跑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296" y="7168896"/>
            <a:ext cx="20482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8E1EC"/>
                </a:solidFill>
                <a:latin typeface="微软雅黑"/>
                <a:ea typeface="微软雅黑"/>
              </a:rPr>
              <a:t>高考把控·节奏管理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D8E1EC"/>
                </a:solidFill>
                <a:latin typeface="微软雅黑"/>
                <a:ea typeface="微软雅黑"/>
              </a:rPr>
              <a:t>每周学情·同步家长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" y="8046720"/>
            <a:ext cx="50566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B8943E"/>
                </a:solidFill>
                <a:latin typeface="微软雅黑"/>
                <a:ea typeface="微软雅黑"/>
              </a:rPr>
              <a:t>✦ 先诊断 · 再定制 · 每一分都有方法 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5715000" cy="4005072"/>
          </a:xfrm>
          <a:prstGeom prst="rect">
            <a:avLst/>
          </a:prstGeom>
          <a:solidFill>
            <a:srgbClr val="143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9184" y="6967728"/>
            <a:ext cx="109728000" cy="274320"/>
          </a:xfrm>
          <a:prstGeom prst="roundRect">
            <a:avLst>
              <a:gd name="adj" fmla="val 50000"/>
            </a:avLst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D2847"/>
                </a:solidFill>
                <a:latin typeface="微软雅黑"/>
                <a:ea typeface="微软雅黑"/>
              </a:rPr>
              <a:t>提分案例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" y="733348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近年辅导成果（案例）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" y="7987283"/>
            <a:ext cx="530352" cy="530352"/>
          </a:xfrm>
          <a:prstGeom prst="rect">
            <a:avLst/>
          </a:prstGeom>
          <a:solidFill>
            <a:srgbClr val="0D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+42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" y="8005571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高三数学 · 87 → 129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8225027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D8E1EC"/>
                </a:solidFill>
                <a:latin typeface="微软雅黑"/>
                <a:ea typeface="微软雅黑"/>
              </a:rPr>
              <a:t>一轮起陪跑 · 9 个月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" y="8755380"/>
            <a:ext cx="530352" cy="530352"/>
          </a:xfrm>
          <a:prstGeom prst="rect">
            <a:avLst/>
          </a:prstGeom>
          <a:solidFill>
            <a:srgbClr val="0D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+31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" y="8773667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高三物理 · 61 → 92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8993124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D8E1EC"/>
                </a:solidFill>
                <a:latin typeface="微软雅黑"/>
                <a:ea typeface="微软雅黑"/>
              </a:rPr>
              <a:t>二轮专题 · 力学突破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" y="9523476"/>
            <a:ext cx="530352" cy="530352"/>
          </a:xfrm>
          <a:prstGeom prst="rect">
            <a:avLst/>
          </a:prstGeom>
          <a:solidFill>
            <a:srgbClr val="0D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+25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" y="9541763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高三数学 · 104 → 129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9761219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D8E1EC"/>
                </a:solidFill>
                <a:latin typeface="微软雅黑"/>
                <a:ea typeface="微软雅黑"/>
              </a:rPr>
              <a:t>三轮冲刺 · 限时训练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" y="10291572"/>
            <a:ext cx="530352" cy="530352"/>
          </a:xfrm>
          <a:prstGeom prst="rect">
            <a:avLst/>
          </a:prstGeom>
          <a:solidFill>
            <a:srgbClr val="0D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94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" y="10309860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物理满分 110 · 取得 94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" y="10529316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D8E1EC"/>
                </a:solidFill>
                <a:latin typeface="微软雅黑"/>
                <a:ea typeface="微软雅黑"/>
              </a:rPr>
              <a:t>基础薄弱 · 一年逆袭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" y="10515600"/>
            <a:ext cx="50566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C9A961"/>
                </a:solidFill>
                <a:latin typeface="微软雅黑"/>
                <a:ea typeface="微软雅黑"/>
              </a:rPr>
              <a:t>— 下一份成绩单，由你来改写 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57984" y="10991088"/>
            <a:ext cx="137160000" cy="274320"/>
          </a:xfrm>
          <a:prstGeom prst="roundRect">
            <a:avLst>
              <a:gd name="adj" fmla="val 50000"/>
            </a:avLst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D2847"/>
                </a:solidFill>
                <a:latin typeface="微软雅黑"/>
                <a:ea typeface="微软雅黑"/>
              </a:rPr>
              <a:t>扫码交流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13972032"/>
            <a:ext cx="5715000" cy="987552"/>
          </a:xfrm>
          <a:prstGeom prst="rect">
            <a:avLst/>
          </a:prstGeom>
          <a:gradFill>
            <a:gsLst>
              <a:gs pos="0">
                <a:srgbClr val="0D2847"/>
              </a:gs>
              <a:gs pos="100000">
                <a:srgbClr val="143559"/>
              </a:gs>
            </a:gsLst>
            <a:lin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" y="14081760"/>
            <a:ext cx="50566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现场预约 · 免费</a:t>
            </a: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学情诊断与提分规划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" y="14520672"/>
            <a:ext cx="50566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8E1EC"/>
                </a:solidFill>
                <a:latin typeface="微软雅黑"/>
                <a:ea typeface="微软雅黑"/>
              </a:rPr>
              <a:t>并享30分钟免费1对1课程咨询（线上/面谈均可）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737360" y="1479499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D2847"/>
                </a:solidFill>
                <a:latin typeface="微软雅黑"/>
                <a:ea typeface="微软雅黑"/>
              </a:rPr>
              <a:t>线下1对1 / 小班 · 私人辅导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15041880"/>
            <a:ext cx="5715000" cy="201168"/>
          </a:xfrm>
          <a:prstGeom prst="rect">
            <a:avLst/>
          </a:prstGeom>
          <a:solidFill>
            <a:srgbClr val="0D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" y="15060167"/>
            <a:ext cx="50566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8E1EC"/>
                </a:solidFill>
                <a:latin typeface="微软雅黑"/>
                <a:ea typeface="微软雅黑"/>
              </a:rPr>
              <a:t>王老师高考私教 · 案例匿名已授权 · 线下面授1对1/小班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11393424"/>
            <a:ext cx="1600200" cy="2395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1152144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D2847"/>
                </a:solidFill>
                <a:latin typeface="微软雅黑"/>
                <a:ea typeface="微软雅黑"/>
              </a:rPr>
              <a:t>加群交流</a:t>
            </a:r>
          </a:p>
        </p:txBody>
      </p:sp>
      <p:pic>
        <p:nvPicPr>
          <p:cNvPr id="49" name="Picture 48" descr="qr-group-domest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887200"/>
            <a:ext cx="1051560" cy="10515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20040" y="13185648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D2847"/>
                </a:solidFill>
                <a:latin typeface="微软雅黑"/>
                <a:ea typeface="微软雅黑"/>
              </a:rPr>
              <a:t>扫码加入交流群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D8E1EC"/>
                </a:solidFill>
                <a:latin typeface="微软雅黑"/>
                <a:ea typeface="微软雅黑"/>
              </a:rPr>
              <a:t>学情交流 · 答疑分享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11393424"/>
            <a:ext cx="1600200" cy="2395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1152144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D2847"/>
                </a:solidFill>
                <a:latin typeface="微软雅黑"/>
                <a:ea typeface="微软雅黑"/>
              </a:rPr>
              <a:t>联系老师</a:t>
            </a:r>
          </a:p>
        </p:txBody>
      </p:sp>
      <p:pic>
        <p:nvPicPr>
          <p:cNvPr id="50" name="Picture 49" descr="qr-teach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11887200"/>
            <a:ext cx="1051560" cy="10515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057400" y="13185648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D2847"/>
                </a:solidFill>
                <a:latin typeface="微软雅黑"/>
                <a:ea typeface="微软雅黑"/>
              </a:rPr>
              <a:t>扫码加王老师微信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D8E1EC"/>
                </a:solidFill>
                <a:latin typeface="微软雅黑"/>
                <a:ea typeface="微软雅黑"/>
              </a:rPr>
              <a:t>1对1咨询 · 课程规划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94760" y="11393424"/>
            <a:ext cx="1600200" cy="2395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94760" y="1152144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D2847"/>
                </a:solidFill>
                <a:latin typeface="微软雅黑"/>
                <a:ea typeface="微软雅黑"/>
              </a:rPr>
              <a:t>现场预约</a:t>
            </a:r>
          </a:p>
        </p:txBody>
      </p:sp>
      <p:pic>
        <p:nvPicPr>
          <p:cNvPr id="51" name="Picture 50" descr="qr-boo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11887200"/>
            <a:ext cx="1051560" cy="10515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794760" y="13185648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D2847"/>
                </a:solidFill>
                <a:latin typeface="微软雅黑"/>
                <a:ea typeface="微软雅黑"/>
              </a:rPr>
              <a:t>扫码在线预约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D8E1EC"/>
                </a:solidFill>
                <a:latin typeface="微软雅黑"/>
                <a:ea typeface="微软雅黑"/>
              </a:rPr>
              <a:t>免费学情诊断 · 提分规划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